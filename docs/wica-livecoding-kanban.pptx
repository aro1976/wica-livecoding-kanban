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microsoft.com/office/2011/relationships/webextensiontaskpanes" Target="ppt/webextensions/taskpane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457200" cy="457200"/>
          </a:xfrm>
          <a:prstGeom prst="rect">
            <a:avLst/>
          </a:prstGeom>
          <a:solidFill>
            <a:srgbClr val="F05C2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1097280"/>
            <a:ext cx="274320" cy="274320"/>
          </a:xfrm>
          <a:prstGeom prst="rect">
            <a:avLst/>
          </a:prstGeom>
          <a:solidFill>
            <a:srgbClr val="66666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WICA 2026  ·  WORKSHOP DE INFORMÁTICA E COMPUTAÇÃO APLICADA  ·  UNICSUL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IA Agêntica para Aplicações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Distribuídas na AWS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Live Coding: construindo um Kanban distribuído na AWS do zero, só conversando com uma 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114800"/>
            <a:ext cx="457200" cy="27432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Alessandro Ramos de Oliveira  ·  CloudDog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53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github.com/aro1976/wica-livecoding-kanban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vamos ver hoje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19072"/>
            <a:ext cx="64008" cy="108813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70078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" y="215798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IA agêntica e vibe 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49631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o agente conduz a tarefa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155448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719072"/>
            <a:ext cx="64008" cy="108813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70078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75304" y="215798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Os 4 pilares do Kiro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75304" y="249631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steering, knowledge base e skills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64224" y="155448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719072"/>
            <a:ext cx="64008" cy="108813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170078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28816" y="215798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vamos construir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249631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Kanban distribuído com votação ao vivo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64992"/>
            <a:ext cx="64008" cy="108813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34670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1792" y="380390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Arquitetura serverless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414223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Lambda, API Gateway, DynamoDB, Cognito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10712" y="32004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10712" y="3364992"/>
            <a:ext cx="64008" cy="108813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29" name="Text 27"/>
          <p:cNvSpPr/>
          <p:nvPr/>
        </p:nvSpPr>
        <p:spPr>
          <a:xfrm>
            <a:off x="3575304" y="334670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575304" y="380390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coding fase a fase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75304" y="414223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diretório vazio ao deploy na AWS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64224" y="32004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64224" y="3364992"/>
            <a:ext cx="64008" cy="108813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334670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528816" y="3803904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MCP: o agente opera a 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28816" y="414223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se fecha por linguagem natural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  ·  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IA Agêntica não é autocomplete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810512"/>
            <a:ext cx="420624" cy="420624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Intenção, não instrução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descreve o resultado desejado. O agente decompõe em passos, não completa a sua linha.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810512"/>
            <a:ext cx="420624" cy="42062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Perguntas de esclarecimento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3591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codar, ele pergunta o que está ambíguo. Isso evita retrabalho lá na frente.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529584"/>
            <a:ext cx="420624" cy="420624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29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5478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Plano antes da execução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078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uma lista de tarefas, cada uma com seu teste. Você revisa e aprova.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529584"/>
            <a:ext cx="420624" cy="42062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529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35478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Itera mantendo contexto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4078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contexto do projeto entre os passos e depura sobre o que já existe.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280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 ·  CONCEITO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intenção guia, o agente digita.</a:t>
            </a:r>
            <a:endParaRPr lang="en-US" sz="2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 decisões de arquitetura continuam suas.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98448" y="36118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é trabalhar no nível da conversa e da arquitetura: sua energia vai para como os dados fluem, como escala e como protege, não para reescrever boilerplate.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43891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vibe coding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 ·  OS 4 PILARES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Os 4 pilares do Kiro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19072"/>
            <a:ext cx="64008" cy="1170432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73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2231136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design e tarefas de UMA funcionalidade, escritos e aprovados antes de codar.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19072"/>
            <a:ext cx="64008" cy="1170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1773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Steering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10912" y="2231136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persistente do projeto (.kiro/steering: produto, tech, deploy), relido em toda conversa.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38144"/>
            <a:ext cx="64008" cy="1170432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493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" y="39502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referência externo que ancora o agente e reduz o risco de alucinação.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438144"/>
            <a:ext cx="64008" cy="1170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3493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Skills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10912" y="39502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reutilizáveis que o agente aciona sob demanda, sem reexplicar o passo a passo.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 ·  OS 4 PILARES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 x Steering x Knowledge base x Skills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7373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Pilar</a:t>
                      </a:r>
                      <a:endParaRPr lang="en-US" sz="125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C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O que é</a:t>
                      </a:r>
                      <a:endParaRPr lang="en-US" sz="125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C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Escopo</a:t>
                      </a:r>
                      <a:endParaRPr lang="en-US" sz="125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C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Analogia</a:t>
                      </a:r>
                      <a:endParaRPr lang="en-US" sz="125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C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Spec</a:t>
                      </a:r>
                      <a:endParaRPr lang="en-US" sz="130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+ design + tarefas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funcionalidade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planta antes da obra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Steering</a:t>
                      </a:r>
                      <a:endParaRPr lang="en-US" sz="130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persistente do projeto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inteiro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manual de onboarding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Knowledge base</a:t>
                      </a:r>
                      <a:endParaRPr lang="en-US" sz="130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de referência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Mundo externo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biblioteca técnica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 Black" pitchFamily="34" charset="0"/>
                          <a:ea typeface="Montserrat Black" pitchFamily="34" charset="-122"/>
                          <a:cs typeface="Montserrat Black" pitchFamily="34" charset="-120"/>
                        </a:rPr>
                        <a:t>Skills</a:t>
                      </a:r>
                      <a:endParaRPr lang="en-US" sz="1300" dirty="0">
                        <a:latin typeface="Montserrat Black" charset="0"/>
                        <a:ea typeface="Montserrat Black" charset="0"/>
                        <a:cs typeface="Montserrat Black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 reutilizáveis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tarefa / fluxo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caixa de ferramentas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é por funcionalidade. Steering é do projeto inteiro. Knowledge base é o mundo externo. Skills são as habilidades de ação.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  ·  O PROJETO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vamos construir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 quadro Kanban simples: TODO, DOING, DONE, com cards que só avançam.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baixo, uma aplicação distribuída de verdade: multiusuário, estado compartilhado, atualização em tempo real e uma votação ao vivo em que a plateia participa pelo celular.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0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diretório vazio ao deploy na AWS, construído só conversando com o Kiro.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0" y="1600200"/>
            <a:ext cx="1627632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78308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303520" y="24688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600200"/>
            <a:ext cx="1627632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8308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132320" y="24688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estrelas / pessoa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3081528"/>
            <a:ext cx="1627632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3264408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303520" y="3950208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3081528"/>
            <a:ext cx="1627632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3264408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132320" y="3950208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  ·  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Arquitetura na AWS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pic>
        <p:nvPicPr>
          <p:cNvPr id="7" name="Image 0" descr="artifacts/.metadata/wica-deck.pptx/aws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66751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  ·  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 5 peças da arquitetura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1828800"/>
            <a:ext cx="329184" cy="329184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810512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2286000"/>
            <a:ext cx="2258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shadcn/ui + dnd-kit. A tela, um site estático.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572768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1828800"/>
            <a:ext cx="329184" cy="32918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1810512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Entrega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0168" y="2286000"/>
            <a:ext cx="2258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guarda, CloudFront distribui e encaminha a API. Sem CORS em produção.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64224" y="1572768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828800"/>
            <a:ext cx="329184" cy="329184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17" name="Text 15"/>
          <p:cNvSpPr/>
          <p:nvPr/>
        </p:nvSpPr>
        <p:spPr>
          <a:xfrm>
            <a:off x="7022592" y="1810512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258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dispara Lambda sob demanda, que lê e grava no DynamoDB.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51076" y="3310128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70532" y="3566160"/>
            <a:ext cx="329184" cy="32918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2409444" y="3547872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Autenticação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70532" y="4023360"/>
            <a:ext cx="2258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cuida de login, cadastro e token. API Gateway valida o JWT na porta.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4588" y="3310128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24044" y="3566160"/>
            <a:ext cx="329184" cy="329184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25" name="Text 23"/>
          <p:cNvSpPr/>
          <p:nvPr/>
        </p:nvSpPr>
        <p:spPr>
          <a:xfrm>
            <a:off x="5362956" y="3547872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Tempo real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24044" y="4023360"/>
            <a:ext cx="2258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API empurra cada mudança para todos os clientes conectados.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  ·  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Serverless: a decisão que amarra tudo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Não há máquina para ligar, atualizar ou dimensionar.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DynamoDB, Cognito e API Gateway são gerenciados e sob demanda. Para um evento como este, custa centavos. Se virar um produto com milhares de usuários, escala sem mudar a arquitetura.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0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"distribuído na AWS" quer dizer na prática.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40680" y="1627632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62763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0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para administrar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2615184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261518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2615184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3602736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3602736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0" y="3602736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automática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  ·  LIVE CODING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coding: fase a fase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591056" cy="2286000"/>
          </a:xfrm>
          <a:prstGeom prst="roundRect">
            <a:avLst>
              <a:gd name="adj" fmla="val 4598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2011680"/>
            <a:ext cx="548640" cy="548640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Board 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0815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Lambda + DynamoDB. Transições só para frente.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764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 + steering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48256" y="2286000"/>
            <a:ext cx="128016" cy="0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76272" y="1783080"/>
            <a:ext cx="1591056" cy="2286000"/>
          </a:xfrm>
          <a:prstGeom prst="roundRect">
            <a:avLst>
              <a:gd name="adj" fmla="val 4598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2011680"/>
            <a:ext cx="548640" cy="5486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67712" y="26974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Cognito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0815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login, JWT e grupo admin.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67712" y="37764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 + steering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67328" y="2286000"/>
            <a:ext cx="128016" cy="0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1783080"/>
            <a:ext cx="1591056" cy="2286000"/>
          </a:xfrm>
          <a:prstGeom prst="roundRect">
            <a:avLst>
              <a:gd name="adj" fmla="val 4598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16552" y="2011680"/>
            <a:ext cx="548640" cy="548640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986784" y="26974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05072" y="30815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WebSocket. Dois navegadores lado a lado.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86784" y="37764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knowledge base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2286000"/>
            <a:ext cx="128016" cy="0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4416" y="1783080"/>
            <a:ext cx="1591056" cy="2286000"/>
          </a:xfrm>
          <a:prstGeom prst="roundRect">
            <a:avLst>
              <a:gd name="adj" fmla="val 4598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5624" y="2011680"/>
            <a:ext cx="548640" cy="5486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30" name="Text 28"/>
          <p:cNvSpPr/>
          <p:nvPr/>
        </p:nvSpPr>
        <p:spPr>
          <a:xfrm>
            <a:off x="6135624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705856" y="26974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Votação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24144" y="30815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ao vivo com a plateia.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05856" y="37764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666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05472" y="2286000"/>
            <a:ext cx="128016" cy="0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3488" y="1783080"/>
            <a:ext cx="1591056" cy="2286000"/>
          </a:xfrm>
          <a:prstGeom prst="roundRect">
            <a:avLst>
              <a:gd name="adj" fmla="val 4598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54696" y="2011680"/>
            <a:ext cx="548640" cy="548640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37" name="Text 35"/>
          <p:cNvSpPr/>
          <p:nvPr/>
        </p:nvSpPr>
        <p:spPr>
          <a:xfrm>
            <a:off x="7854696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424928" y="26974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MCP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43216" y="30815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opera o board em linguagem natural.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24928" y="377647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skills + mcp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  ·  LIVE CODING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Destaque: votação ao vivo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4023360" cy="1353312"/>
          </a:xfrm>
          <a:prstGeom prst="roundRect">
            <a:avLst>
              <a:gd name="adj" fmla="val 540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792224"/>
            <a:ext cx="457200" cy="457200"/>
          </a:xfrm>
          <a:prstGeom prst="star5">
            <a:avLst/>
          </a:prstGeom>
          <a:solidFill>
            <a:srgbClr val="F05C2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7922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 abre a sessão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" y="228600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instante, o quadro trava para todos os participantes.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36192"/>
            <a:ext cx="4023360" cy="1353312"/>
          </a:xfrm>
          <a:prstGeom prst="roundRect">
            <a:avLst>
              <a:gd name="adj" fmla="val 540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92624" y="1792224"/>
            <a:ext cx="457200" cy="457200"/>
          </a:xfrm>
          <a:prstGeom prst="star5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7922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15 estrelas por pessoa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92624" y="228600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distribui suas estrelas entre os cards da coluna TODO.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4023360" cy="1353312"/>
          </a:xfrm>
          <a:prstGeom prst="roundRect">
            <a:avLst>
              <a:gd name="adj" fmla="val 540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328416"/>
            <a:ext cx="457200" cy="457200"/>
          </a:xfrm>
          <a:prstGeom prst="star5">
            <a:avLst/>
          </a:prstGeom>
          <a:solidFill>
            <a:srgbClr val="F05C2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3284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4944" y="38221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totais aparecem na tela de todos e a coluna reordena pelo placar.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4023360" cy="1353312"/>
          </a:xfrm>
          <a:prstGeom prst="roundRect">
            <a:avLst>
              <a:gd name="adj" fmla="val 540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92624" y="3328416"/>
            <a:ext cx="457200" cy="457200"/>
          </a:xfrm>
          <a:prstGeom prst="star5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3284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Validação no servidor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92624" y="38221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de 15 é checado no backend: backend recusa, frontend desabilita.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plateia participa pelo celular (QR code). Estado compartilhado + tempo real, ao vivo.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06  ·  MCP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MCP: fechando o ciclo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4632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WICA 2026</a:t>
            </a:r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na AWS com Kiro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aplicação que o agente construiu vira uma ferramenta que o próprio agente opera.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 (Model Context Protocol), o Kiro conversa com a API em linguagem natural: pede para listar e criar cards, e o card aparece no quadro em tempo real para todos.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0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deixa de só responder e passa a agir.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577840" y="164592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24144" y="1801368"/>
            <a:ext cx="310896" cy="310896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10" name="Text 8"/>
          <p:cNvSpPr/>
          <p:nvPr/>
        </p:nvSpPr>
        <p:spPr>
          <a:xfrm>
            <a:off x="6199632" y="16459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79592" y="2267712"/>
            <a:ext cx="0" cy="128016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395728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24144" y="2551176"/>
            <a:ext cx="310896" cy="310896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23957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Steering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79592" y="3017520"/>
            <a:ext cx="0" cy="128016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3145536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3300984"/>
            <a:ext cx="310896" cy="310896"/>
          </a:xfrm>
          <a:prstGeom prst="ellipse">
            <a:avLst/>
          </a:prstGeom>
          <a:solidFill>
            <a:srgbClr val="F05C28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314553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9592" y="3767328"/>
            <a:ext cx="0" cy="128016"/>
          </a:xfrm>
          <a:prstGeom prst="line">
            <a:avLst/>
          </a:prstGeom>
          <a:noFill/>
          <a:ln w="19050">
            <a:solidFill>
              <a:srgbClr val="2A2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895344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17171C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24144" y="4050792"/>
            <a:ext cx="310896" cy="310896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38953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Skills + MCP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 ZERO AO AGENTE QUE OPERA A PRÓPRIA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Começamos de um diretório vazio.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Terminamos com uma app distribuída na AWS,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operada pelo agente que a construiu.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não substitui a decisão de arquitetura: ela libera você para passar mais tempo nela e menos digitando.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Alessandro Ramos de Oliveira  ·  CloudDog  ·  github.com/aro1976/wica-livecoding-kanban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VAMOS CONVERSAR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Alessandro Ramos de Oliveira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CloudDog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468880"/>
            <a:ext cx="457200" cy="27432"/>
          </a:xfrm>
          <a:prstGeom prst="rect">
            <a:avLst/>
          </a:prstGeom>
          <a:solidFill>
            <a:srgbClr val="F05C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C2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 linkedin.com/in/aro1976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2A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artifacts/.metadata/wica-deck.pptx/linkedin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63040"/>
            <a:ext cx="2103120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B70568-5D8E-4ED0-A795-F6118CF59BDB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Agêntica para Aplicações Distribuídas na AWS - WICA 2026</dc:title>
  <dc:subject>PptxGenJS Presentation</dc:subject>
  <dc:creator>Alessandro Ramos de Oliveira</dc:creator>
  <cp:lastModifiedBy>Alessandro Ramos de Oliveira</cp:lastModifiedBy>
  <cp:revision>1</cp:revision>
  <dcterms:created xsi:type="dcterms:W3CDTF">2026-10-14T18:36:41Z</dcterms:created>
  <dcterms:modified xsi:type="dcterms:W3CDTF">2026-10-14T18:36:41Z</dcterms:modified>
</cp:coreProperties>
</file>